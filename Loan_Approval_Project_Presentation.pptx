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3E63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Decision Tree</c:v>
                  </c:pt>
                  <c:pt idx="3">
                    <c:v>AdaBoost</c:v>
                  </c:pt>
                  <c:pt idx="4">
                    <c:v>Logistic Reg.</c:v>
                  </c:pt>
                  <c:pt idx="5">
                    <c:v>SVM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97.9</c:v>
                </c:pt>
                <c:pt idx="1">
                  <c:v>97.8</c:v>
                </c:pt>
                <c:pt idx="2">
                  <c:v>97.4</c:v>
                </c:pt>
                <c:pt idx="3">
                  <c:v>96.5</c:v>
                </c:pt>
                <c:pt idx="4">
                  <c:v>90</c:v>
                </c:pt>
                <c:pt idx="5">
                  <c:v>62.8</c:v>
                </c:pt>
                <c:pt idx="6">
                  <c:v>57.4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CIBIL Score</c:v>
                  </c:pt>
                  <c:pt idx="1">
                    <c:v>Loan Term</c:v>
                  </c:pt>
                  <c:pt idx="2">
                    <c:v>Loan Amount</c:v>
                  </c:pt>
                  <c:pt idx="3">
                    <c:v>Residential Assets</c:v>
                  </c:pt>
                  <c:pt idx="4">
                    <c:v>Luxury Assets</c:v>
                  </c:pt>
                  <c:pt idx="5">
                    <c:v>Income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79.9</c:v>
                </c:pt>
                <c:pt idx="1">
                  <c:v>6.4</c:v>
                </c:pt>
                <c:pt idx="2">
                  <c:v>2.6</c:v>
                </c:pt>
                <c:pt idx="3">
                  <c:v>1.7</c:v>
                </c:pt>
                <c:pt idx="4">
                  <c:v>1.7</c:v>
                </c:pt>
                <c:pt idx="5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011680" cy="201168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Automate &amp; De-risk Bank Loan Decisions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1750">
            <a:solidFill>
              <a:srgbClr val="3E63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K.Venkat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Binary Classification  |  Loan_Status: Approved / Rejected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4846320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wants to predict whether a loan application should be approved based on the applicant's personal and financial information — reducing manual effort and speeding up decisions.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 Learning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Binary Classification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Loan_Status (Approved / Rejected)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2344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508760"/>
            <a:ext cx="822960" cy="82296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35240" y="1554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Verification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29260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3200400"/>
            <a:ext cx="822960" cy="82296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35240" y="32461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High-Risk Approvals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461772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4892040"/>
            <a:ext cx="822960" cy="82296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892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4937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Experience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K.Venkat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4,269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2344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3258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9000" y="1965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3258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09360" y="1965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12344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189720" y="13258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89720" y="19659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Groups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6F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37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Profile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33375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Dependents, Education, Self-employed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9592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6F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959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399592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income, Loan amount, Loan term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5429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6F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65429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46542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 score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31266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6F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126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5312664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Residential, Commercial, Luxury, Bank balance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97103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3F6FD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9710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46120" y="59710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— Approved (1) / Rejected (0)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K.Venkat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Key Insights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81328"/>
            <a:ext cx="4343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CIBIL score strongly increases approval likelihood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86600" y="1481328"/>
            <a:ext cx="4343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outnumber rejections overall in the dataset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81528"/>
            <a:ext cx="4343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outliers in annual income or loan amount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200400"/>
            <a:ext cx="457200" cy="45720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86600" y="3081528"/>
            <a:ext cx="4343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self-employment show minimal impact on approval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681728"/>
            <a:ext cx="4343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luxury assets &amp; bank balance are highly correlated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3F6F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4800600"/>
            <a:ext cx="457200" cy="457200"/>
          </a:xfrm>
          <a:prstGeom prst="ellipse">
            <a:avLst/>
          </a:prstGeom>
          <a:solidFill>
            <a:srgbClr val="3E63D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6600" y="4681728"/>
            <a:ext cx="4343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most often requested in the ₹1–2 crore range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K.Venkat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Data Preparation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Cleaning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column whitespace, standardized names (loan_term → loan_term_years)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Encoding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265176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education, self_employed &amp; loan_status into numeric 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319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Scaling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393192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income, loan amount, CIBIL score &amp; asset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12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Splitting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52120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split, random_state = 42, for fair evaluation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K.Venkat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— Accuracy Comparison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6809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458200" y="123444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68680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97.89% test accuracy — top ensemble baseline before tuning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58200" y="3657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/ tree-based models (XGBoost, Random Forest, Decision Tree) substantially outperform distance-based models (KNN, SVM), showing the decision boundary is non-linear.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K.Venkat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Random Forest for maximum accuracy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max_depth=15, min_samples_split=2, n_estimators=50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6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F3F6FD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60020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RandomizedSearchCV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97180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n_estimators=150, min_samples_split=5, min_samples_leaf=1, max_depth=15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434340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6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98.01%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37960" y="50292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(Best)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K.Venkat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top predictors of loan approval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463040"/>
            <a:ext cx="3063240" cy="484632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23960" y="2103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CIBIL score alone drives ~80% of the model's decision.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23960" y="347472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term and loan amount play a secondary role, while education and self-employment contribute almost nothing to the prediction.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K.Venkat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&amp; Recommendations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4846320"/>
          </a:xfrm>
          <a:prstGeom prst="rect">
            <a:avLst/>
          </a:prstGeom>
          <a:solidFill>
            <a:srgbClr val="F3F6F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CIBIL score → markedly higher approval odds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→ qualifies for larger loan amounts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scales with the applicant's asset holdings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show a small edge in approval rate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303520" cy="4846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87452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CIBIL score as the primary screening filter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loan amount against income for repayment capacity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loan term &amp; asset values as secondary risk signals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De-prioritize education / employment type in decisioning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Prediction — K.Venkat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200400" cy="3200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Deployment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3E63D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98.01%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 Random Forest)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691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RandomizedSearchCV-tuned Random Forest, saved as Loan_model.pkl via joblib for production deployment.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0" y="28803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(CIBIL score) is by far the strongest determinant of loan approval — followed by loan structure and income/asset strength — while demographic factors like education contribute minimally.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10698480" cy="0"/>
          </a:xfrm>
          <a:prstGeom prst="line">
            <a:avLst/>
          </a:prstGeom>
          <a:noFill/>
          <a:ln w="9525">
            <a:solidFill>
              <a:srgbClr val="8FA9E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31520" y="4937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5577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K.Venkat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FA9E0"/>
                </a:solidFill>
              </a:rPr>
              <a:t>Loan Approval Prediction — Machine Learning Project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2026-08-12T03:16:26Z</dcterms:created>
  <dcterms:modified xsi:type="dcterms:W3CDTF">2026-08-12T03:16:26Z</dcterms:modified>
</cp:coreProperties>
</file>